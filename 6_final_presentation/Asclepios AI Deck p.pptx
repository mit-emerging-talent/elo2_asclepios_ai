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6" r:id="rId7"/>
    <p:sldId id="267" r:id="rId8"/>
  </p:sldIdLst>
  <p:sldSz cx="12192000" cy="6858000"/>
  <p:notesSz cx="6858000" cy="9144000"/>
  <p:embeddedFontLst>
    <p:embeddedFont>
      <p:font typeface="Book Antiqua" panose="02040602050305030304" pitchFamily="18" charset="0"/>
      <p:regular r:id="rId10"/>
      <p:bold r:id="rId11"/>
      <p:italic r:id="rId12"/>
      <p:boldItalic r:id="rId13"/>
    </p:embeddedFon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ExtraBold" panose="020B0604020202020204" charset="0"/>
      <p:bold r:id="rId18"/>
      <p:boldItalic r:id="rId19"/>
    </p:embeddedFont>
    <p:embeddedFont>
      <p:font typeface="Inter Light" panose="020B0604020202020204" charset="0"/>
      <p:regular r:id="rId20"/>
      <p:bold r:id="rId21"/>
      <p:italic r:id="rId22"/>
      <p:boldItalic r:id="rId23"/>
    </p:embeddedFont>
    <p:embeddedFont>
      <p:font typeface="Inter Medium" panose="020B0604020202020204" charset="0"/>
      <p:regular r:id="rId24"/>
      <p:bold r:id="rId25"/>
      <p:italic r:id="rId26"/>
      <p:boldItalic r:id="rId27"/>
    </p:embeddedFont>
    <p:embeddedFont>
      <p:font typeface="Inter SemiBold" panose="020B0604020202020204" charset="0"/>
      <p:regular r:id="rId28"/>
      <p:bold r:id="rId29"/>
      <p:italic r:id="rId30"/>
      <p:boldItalic r:id="rId31"/>
    </p:embeddedFont>
    <p:embeddedFont>
      <p:font typeface="Merriweather Light" panose="000004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8D30B2-30C7-C0B9-F99B-E83C6292EE07}" v="33" dt="2025-12-07T15:55:24.582"/>
    <p1510:client id="{84D004E4-281E-5DCF-EA5F-DBAF3A7E197F}" v="62" dt="2025-12-07T16:17:52.218"/>
    <p1510:client id="{877452EA-C5C7-4D8A-A952-7E44164CA31D}" v="73" dt="2025-12-07T07:13:56.567"/>
    <p1510:client id="{AB71CE11-69B3-E0FD-B143-CA338C440E5A}" v="18" dt="2025-12-07T15:41:27.747"/>
    <p1510:client id="{C15DE690-CECA-4D26-A985-5CCCF65E526A}" v="279" dt="2025-12-07T07:56:21.532"/>
    <p1510:client id="{C5A030C2-E39A-43BA-B2D6-ECECEEFB1B6A}" v="176" dt="2025-12-07T08:24:04.441"/>
    <p1510:client id="{E49DBB99-523C-AA5B-6398-7285FC511D7E}" v="33" dt="2025-12-07T14:45:29.659"/>
    <p1510:client id="{E611FEA4-0AD2-2DE5-A933-1CED57DA95A1}" v="17" dt="2025-12-07T19:19:58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9" Type="http://schemas.openxmlformats.org/officeDocument/2006/relationships/tableStyles" Target="tableStyles.xml"/><Relationship Id="rId21" Type="http://schemas.openxmlformats.org/officeDocument/2006/relationships/font" Target="fonts/font12.fntdata"/><Relationship Id="rId34" Type="http://schemas.openxmlformats.org/officeDocument/2006/relationships/font" Target="fonts/font25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font" Target="fonts/font2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font" Target="fonts/font23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36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35" Type="http://schemas.openxmlformats.org/officeDocument/2006/relationships/font" Target="fonts/font2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jpe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70634" y="2727126"/>
            <a:ext cx="5850731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Asclepios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09937" y="3765351"/>
            <a:ext cx="557212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Data-Driven Treatment Optimization for</a:t>
            </a:r>
            <a:br>
              <a:rPr lang="en-US" sz="1800" b="1" i="0" u="none" strike="noStrike" cap="none">
                <a:latin typeface="Calibri"/>
                <a:ea typeface="Calibri"/>
                <a:cs typeface="Calibri"/>
              </a:rPr>
            </a:br>
            <a:r>
              <a:rPr lang="en-US" sz="2400" b="1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Substance Use Disorder</a:t>
            </a:r>
            <a:endParaRPr lang="en-US" b="1"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1687" y="1965126"/>
            <a:ext cx="4286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87972"/>
            <a:ext cx="5238750" cy="262503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772275" y="2978497"/>
            <a:ext cx="4457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E11D4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30%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660832" y="383574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F123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Readmission Rate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72275" y="4273897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 patients return within one year, signaling inadequate treatment personalization.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2102643"/>
            <a:ext cx="4895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Recidivism: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Patients often return due to premature discharge.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14400" y="3001565"/>
            <a:ext cx="4895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Standardization: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Lack of systematic approach to personalize treatment length.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3900487"/>
            <a:ext cx="4895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Capacity Issues: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Facilities struggle with effective capacity planning.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4799409"/>
            <a:ext cx="4895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Resource Mismatch: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Disconnect between patient admissions and available resources.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Challenges in SUD Treatment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4074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3966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38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37509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1900" y="15240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1760190"/>
            <a:ext cx="6400800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en-US" sz="1050" b="1">
                <a:solidFill>
                  <a:srgbClr val="FF0000"/>
                </a:solidFill>
                <a:latin typeface="Inter"/>
                <a:ea typeface="Inter"/>
              </a:rPr>
              <a:t>RESEARCH QUESTION</a:t>
            </a:r>
            <a:endParaRPr lang="en-US">
              <a:solidFill>
                <a:srgbClr val="FF0000"/>
              </a:solidFill>
              <a:ea typeface="Inter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2163960"/>
            <a:ext cx="60198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150" b="0" i="1" u="none" strike="noStrike" cap="none">
                <a:solidFill>
                  <a:srgbClr val="334155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 "How can we predict optimal treatment duration to </a:t>
            </a:r>
            <a:r>
              <a:rPr lang="en-US" sz="3150" i="1">
                <a:solidFill>
                  <a:srgbClr val="334155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 </a:t>
            </a:r>
            <a:r>
              <a:rPr lang="en-US" sz="3150" b="0" i="1" u="none" strike="noStrike" cap="none">
                <a:solidFill>
                  <a:srgbClr val="334155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minimize relapse risk?" 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2163960"/>
            <a:ext cx="57150" cy="1485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1900" y="15240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4030860"/>
            <a:ext cx="672084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Approach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4469010"/>
            <a:ext cx="6400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Using patient demographics, clinical history, and treatment factors to strictly personalize care.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49910"/>
            <a:ext cx="2381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613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19225"/>
            <a:ext cx="5381625" cy="125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419225"/>
            <a:ext cx="5381625" cy="125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964060"/>
            <a:ext cx="5381625" cy="1015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2964060"/>
            <a:ext cx="5381625" cy="1015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571500"/>
            <a:ext cx="8531066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Asclepios AI: Smart Recommendation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384887" y="5327654"/>
            <a:ext cx="10986462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9944"/>
              </a:lnSpc>
            </a:pPr>
            <a:r>
              <a:rPr lang="en-US" sz="3200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 Personalized</a:t>
            </a:r>
            <a:r>
              <a:rPr lang="en-US" sz="3200" b="0" i="0" u="none" strike="noStrike" cap="non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 recommendations for recovery.</a:t>
            </a:r>
            <a:endParaRPr lang="en-US" sz="3200"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9150" y="16668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86525" y="16668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321171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86525" y="321171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2975" y="17907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485900" y="1666875"/>
            <a:ext cx="443055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Predict Duration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485900" y="1943100"/>
            <a:ext cx="42195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Calculates the optimal length of stay for every unique patient profile.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596062" y="17907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153275" y="1666875"/>
            <a:ext cx="443055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Reduce Readmissions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153275" y="1943100"/>
            <a:ext cx="42195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Minimizes relapse risk by ensuring treatment isn't cut short.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28687" y="333553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485900" y="3211710"/>
            <a:ext cx="364045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Optimize Resources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485900" y="3487935"/>
            <a:ext cx="3467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Smart allocation of beds, staff, and clinical time.</a:t>
            </a:r>
            <a:endParaRPr/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10350" y="333553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7153275" y="3211710"/>
            <a:ext cx="413051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Personalize Care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153275" y="3487935"/>
            <a:ext cx="39338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Tailors recovery plans based on individual data points.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7262" y="3286125"/>
            <a:ext cx="2381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4767262" y="3257550"/>
            <a:ext cx="26574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>
                <a:solidFill>
                  <a:srgbClr val="CBD5E1"/>
                </a:solidFill>
                <a:latin typeface="Inter"/>
                <a:ea typeface="Inter"/>
              </a:rPr>
              <a:t>video</a:t>
            </a:r>
          </a:p>
        </p:txBody>
      </p:sp>
      <p:pic>
        <p:nvPicPr>
          <p:cNvPr id="2" name="Asclepios AI Demo">
            <a:hlinkClick r:id="" action="ppaction://media"/>
            <a:extLst>
              <a:ext uri="{FF2B5EF4-FFF2-40B4-BE49-F238E27FC236}">
                <a16:creationId xmlns:a16="http://schemas.microsoft.com/office/drawing/2014/main" id="{DA56F208-575A-AB5D-13DE-C4568CCE66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2086" y="59500"/>
            <a:ext cx="12196172" cy="6749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701480"/>
            <a:ext cx="10668000" cy="1169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52625"/>
            <a:ext cx="3365450" cy="2367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952625"/>
            <a:ext cx="3365450" cy="2367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952625"/>
            <a:ext cx="3365599" cy="236785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762000"/>
            <a:ext cx="112014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0F172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Our Models Deliver Actionable Insights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795337" y="4987230"/>
            <a:ext cx="106013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047750" y="5311080"/>
            <a:ext cx="100965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bg1"/>
                </a:solidFill>
                <a:latin typeface="Inter Light"/>
                <a:ea typeface="Inter Light"/>
                <a:cs typeface="Inter Light"/>
                <a:sym typeface="Inter Light"/>
              </a:rPr>
              <a:t>Data-driven personalization that improves patient outcomes while optimizing facility operations.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22764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1047750" y="2647950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High-Risk Identification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047750" y="3019425"/>
            <a:ext cx="2793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75%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047750" y="3600450"/>
            <a:ext cx="2793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Accuracy in predicting relapse risk.</a:t>
            </a:r>
            <a:endParaRPr/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8950" y="227647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4698950" y="2647950"/>
            <a:ext cx="29336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Duration Prediction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698950" y="3019425"/>
            <a:ext cx="2793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±6 Days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698950" y="3600450"/>
            <a:ext cx="2793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Accuracy of optimal length of stay.</a:t>
            </a:r>
            <a:endParaRPr/>
          </a:p>
        </p:txBody>
      </p:sp>
      <p:pic>
        <p:nvPicPr>
          <p:cNvPr id="179" name="Google Shape;17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2764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8350150" y="2647950"/>
            <a:ext cx="293380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Demand Forecasting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350150" y="3019425"/>
            <a:ext cx="2794099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±2 Beds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350150" y="3600450"/>
            <a:ext cx="2794099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Accuracy for capacity planning.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2827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l="-1000" r="-1000"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/>
        </p:nvSpPr>
        <p:spPr>
          <a:xfrm>
            <a:off x="495300" y="762000"/>
            <a:ext cx="11201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200">
                <a:solidFill>
                  <a:schemeClr val="bg1"/>
                </a:solidFill>
                <a:latin typeface="Merriweather Light"/>
                <a:ea typeface="Inter"/>
                <a:cs typeface="Playfair Display SemiBold"/>
                <a:sym typeface="Playfair Display SemiBold"/>
              </a:rPr>
              <a:t> Asclepios AI</a:t>
            </a:r>
            <a:r>
              <a:rPr lang="en-US" sz="4200">
                <a:solidFill>
                  <a:schemeClr val="bg1"/>
                </a:solidFill>
                <a:latin typeface="Merriweather Light"/>
                <a:ea typeface="Playfair Display SemiBold"/>
                <a:cs typeface="Playfair Display SemiBold"/>
                <a:sym typeface="Playfair Display SemiBold"/>
              </a:rPr>
              <a:t> </a:t>
            </a:r>
            <a:r>
              <a:rPr lang="en-US" sz="4200" b="0" i="0" u="none" strike="noStrike" cap="none">
                <a:solidFill>
                  <a:schemeClr val="bg1"/>
                </a:solidFill>
                <a:latin typeface="Merriweather Light"/>
                <a:ea typeface="Playfair Display SemiBold"/>
                <a:cs typeface="Playfair Display SemiBold"/>
                <a:sym typeface="Playfair Display SemiBold"/>
              </a:rPr>
              <a:t>Team</a:t>
            </a:r>
            <a:endParaRPr lang="en-US">
              <a:solidFill>
                <a:schemeClr val="bg1"/>
              </a:solidFill>
              <a:latin typeface="Merriweather Light"/>
            </a:endParaRPr>
          </a:p>
        </p:txBody>
      </p:sp>
      <p:pic>
        <p:nvPicPr>
          <p:cNvPr id="188" name="Google Shape;18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16843" y="3104155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889334" y="4456447"/>
            <a:ext cx="21638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Inter SemiBold"/>
                <a:ea typeface="Inter SemiBold"/>
              </a:rPr>
              <a:t>Rafaa Ali Abdalla</a:t>
            </a:r>
          </a:p>
        </p:txBody>
      </p:sp>
      <p:pic>
        <p:nvPicPr>
          <p:cNvPr id="191" name="Google Shape;191;p20" descr="A person with dreadlocks wearing a suit&#10;&#10;AI-generated content may be incorrect.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3919958" y="3052640"/>
            <a:ext cx="1277470" cy="13335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2" name="Google Shape;192;p20"/>
          <p:cNvSpPr txBox="1"/>
          <p:nvPr/>
        </p:nvSpPr>
        <p:spPr>
          <a:xfrm>
            <a:off x="3475859" y="4440341"/>
            <a:ext cx="21752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Inter SemiBold"/>
                <a:ea typeface="Inter SemiBold"/>
              </a:rPr>
              <a:t>Caesar </a:t>
            </a:r>
            <a:r>
              <a:rPr lang="en-US" sz="2000" dirty="0">
                <a:solidFill>
                  <a:schemeClr val="bg1"/>
                </a:solidFill>
                <a:latin typeface="Inter SemiBold"/>
                <a:ea typeface="Inter SemiBold"/>
              </a:rPr>
              <a:t>Ghazi</a:t>
            </a:r>
            <a:endParaRPr lang="en-US" sz="2000">
              <a:solidFill>
                <a:schemeClr val="bg1"/>
              </a:solidFill>
              <a:latin typeface="Inter SemiBold"/>
              <a:ea typeface="Inter SemiBold"/>
            </a:endParaRPr>
          </a:p>
        </p:txBody>
      </p:sp>
      <p:pic>
        <p:nvPicPr>
          <p:cNvPr id="197" name="Google Shape;19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57260" y="3045868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959163" y="4441144"/>
            <a:ext cx="293727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Inter SemiBold"/>
                <a:ea typeface="Inter SemiBold"/>
              </a:rPr>
              <a:t>Mohamed </a:t>
            </a:r>
            <a:r>
              <a:rPr lang="en-US" sz="1800" err="1">
                <a:solidFill>
                  <a:schemeClr val="bg1"/>
                </a:solidFill>
                <a:latin typeface="Inter SemiBold"/>
                <a:ea typeface="Inter SemiBold"/>
              </a:rPr>
              <a:t>Alwathiq</a:t>
            </a:r>
            <a:r>
              <a:rPr lang="en-US" sz="1800">
                <a:solidFill>
                  <a:schemeClr val="bg1"/>
                </a:solidFill>
                <a:latin typeface="Inter SemiBold"/>
                <a:ea typeface="Inter SemiBold"/>
              </a:rPr>
              <a:t> Ali</a:t>
            </a:r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21656" y="348515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59432" y="3232914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482EAB-D2CD-11C2-A6FA-3F09372C7D56}"/>
              </a:ext>
            </a:extLst>
          </p:cNvPr>
          <p:cNvSpPr txBox="1"/>
          <p:nvPr/>
        </p:nvSpPr>
        <p:spPr>
          <a:xfrm>
            <a:off x="2445091" y="1878859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4EA47-60B5-947A-010B-B40EC97CCF2C}"/>
              </a:ext>
            </a:extLst>
          </p:cNvPr>
          <p:cNvSpPr txBox="1"/>
          <p:nvPr/>
        </p:nvSpPr>
        <p:spPr>
          <a:xfrm>
            <a:off x="1029511" y="1557137"/>
            <a:ext cx="98704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b="1">
                <a:solidFill>
                  <a:schemeClr val="bg1"/>
                </a:solidFill>
                <a:latin typeface="Book Antiqua"/>
              </a:rPr>
              <a:t>Asclepios AI is named after the Greek god of medicine and healing. His temples were the first hospitals. Our platform is the first AI-powered treatment optimizer. We bring ancient wisdom into the modern age of data-driven healthcare.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5" name="Google Shape;195;p20">
            <a:extLst>
              <a:ext uri="{FF2B5EF4-FFF2-40B4-BE49-F238E27FC236}">
                <a16:creationId xmlns:a16="http://schemas.microsoft.com/office/drawing/2014/main" id="{877B25C6-015A-4513-7C38-84BE696D53F7}"/>
              </a:ext>
            </a:extLst>
          </p:cNvPr>
          <p:cNvSpPr txBox="1"/>
          <p:nvPr/>
        </p:nvSpPr>
        <p:spPr>
          <a:xfrm>
            <a:off x="8765235" y="4436714"/>
            <a:ext cx="311416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err="1">
                <a:solidFill>
                  <a:schemeClr val="bg1"/>
                </a:solidFill>
                <a:latin typeface="Inter SemiBold"/>
                <a:ea typeface="Inter SemiBold"/>
              </a:rPr>
              <a:t>Wuor</a:t>
            </a:r>
            <a:r>
              <a:rPr lang="en-US" sz="1800">
                <a:solidFill>
                  <a:schemeClr val="bg1"/>
                </a:solidFill>
                <a:latin typeface="Inter SemiBold"/>
                <a:ea typeface="Inter SemiBold"/>
              </a:rPr>
              <a:t> Bhang</a:t>
            </a:r>
          </a:p>
        </p:txBody>
      </p:sp>
      <p:pic>
        <p:nvPicPr>
          <p:cNvPr id="6" name="Picture 5" descr="A person wearing a green head scarf&#10;&#10;AI-generated content may be incorrect.">
            <a:extLst>
              <a:ext uri="{FF2B5EF4-FFF2-40B4-BE49-F238E27FC236}">
                <a16:creationId xmlns:a16="http://schemas.microsoft.com/office/drawing/2014/main" id="{B720EADB-D2A2-135A-4884-33A1E110FD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1192" y="2947736"/>
            <a:ext cx="1577289" cy="148878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88BA5FE8-10D2-BB43-645D-C6DB2BB989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2097" y="2944895"/>
            <a:ext cx="1338565" cy="1552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Picture 1" descr="A person with short hair&#10;&#10;AI-generated content may be incorrect.">
            <a:extLst>
              <a:ext uri="{FF2B5EF4-FFF2-40B4-BE49-F238E27FC236}">
                <a16:creationId xmlns:a16="http://schemas.microsoft.com/office/drawing/2014/main" id="{27160B0B-0768-2FE8-83D0-BEED468E06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4710" y="2951629"/>
            <a:ext cx="1354229" cy="133574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6722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60</cp:revision>
  <dcterms:modified xsi:type="dcterms:W3CDTF">2025-12-07T19:20:30Z</dcterms:modified>
</cp:coreProperties>
</file>